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6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73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21560" y="622800"/>
            <a:ext cx="4283640" cy="99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56;p11" descr=""/>
          <p:cNvPicPr/>
          <p:nvPr/>
        </p:nvPicPr>
        <p:blipFill>
          <a:blip r:embed="rId2"/>
          <a:stretch/>
        </p:blipFill>
        <p:spPr>
          <a:xfrm flipH="1">
            <a:off x="89640" y="79920"/>
            <a:ext cx="8970120" cy="4997160"/>
          </a:xfrm>
          <a:prstGeom prst="rect">
            <a:avLst/>
          </a:prstGeom>
          <a:noFill/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98560" y="1155960"/>
            <a:ext cx="7346520" cy="15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fr-FR" sz="7200" strike="noStrike" u="none">
                <a:solidFill>
                  <a:schemeClr val="accent1"/>
                </a:solidFill>
                <a:effectLst/>
                <a:uFillTx/>
                <a:latin typeface="Albert Sans"/>
                <a:ea typeface="Albert Sans"/>
              </a:rPr>
              <a:t>xx%</a:t>
            </a:r>
            <a:endParaRPr b="0" lang="fr-FR" sz="7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61;p13" descr=""/>
          <p:cNvPicPr/>
          <p:nvPr/>
        </p:nvPicPr>
        <p:blipFill>
          <a:blip r:embed="rId2"/>
          <a:stretch/>
        </p:blipFill>
        <p:spPr>
          <a:xfrm>
            <a:off x="92160" y="75960"/>
            <a:ext cx="8959680" cy="4991400"/>
          </a:xfrm>
          <a:prstGeom prst="rect">
            <a:avLst/>
          </a:prstGeom>
          <a:noFill/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30840" y="303480"/>
            <a:ext cx="2305080" cy="12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330840" y="194796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title"/>
          </p:nvPr>
        </p:nvSpPr>
        <p:spPr>
          <a:xfrm>
            <a:off x="330840" y="367236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title"/>
          </p:nvPr>
        </p:nvSpPr>
        <p:spPr>
          <a:xfrm>
            <a:off x="3030120" y="194796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title"/>
          </p:nvPr>
        </p:nvSpPr>
        <p:spPr>
          <a:xfrm>
            <a:off x="3030120" y="367236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title"/>
          </p:nvPr>
        </p:nvSpPr>
        <p:spPr>
          <a:xfrm>
            <a:off x="5729400" y="194796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7"/>
          <p:cNvSpPr>
            <a:spLocks noGrp="1"/>
          </p:cNvSpPr>
          <p:nvPr>
            <p:ph type="title"/>
          </p:nvPr>
        </p:nvSpPr>
        <p:spPr>
          <a:xfrm>
            <a:off x="5729400" y="367236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76;p14" descr=""/>
          <p:cNvPicPr/>
          <p:nvPr/>
        </p:nvPicPr>
        <p:blipFill>
          <a:blip r:embed="rId2"/>
          <a:stretch/>
        </p:blipFill>
        <p:spPr>
          <a:xfrm>
            <a:off x="89280" y="77400"/>
            <a:ext cx="8970120" cy="4988160"/>
          </a:xfrm>
          <a:prstGeom prst="rect">
            <a:avLst/>
          </a:prstGeom>
          <a:noFill/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30840" y="312840"/>
            <a:ext cx="71719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8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79;p15" descr=""/>
          <p:cNvPicPr/>
          <p:nvPr/>
        </p:nvPicPr>
        <p:blipFill>
          <a:blip r:embed="rId2"/>
          <a:stretch/>
        </p:blipFill>
        <p:spPr>
          <a:xfrm>
            <a:off x="89280" y="77400"/>
            <a:ext cx="8965440" cy="4988520"/>
          </a:xfrm>
          <a:prstGeom prst="rect">
            <a:avLst/>
          </a:prstGeom>
          <a:noFill/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30840" y="312840"/>
            <a:ext cx="77137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82;p16" descr=""/>
          <p:cNvPicPr/>
          <p:nvPr/>
        </p:nvPicPr>
        <p:blipFill>
          <a:blip r:embed="rId2"/>
          <a:stretch/>
        </p:blipFill>
        <p:spPr>
          <a:xfrm>
            <a:off x="89280" y="77400"/>
            <a:ext cx="8970120" cy="4988160"/>
          </a:xfrm>
          <a:prstGeom prst="rect">
            <a:avLst/>
          </a:prstGeom>
          <a:noFill/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30840" y="309240"/>
            <a:ext cx="8099640" cy="114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5" name="Google Shape;85;p16"/>
          <p:cNvGrpSpPr/>
          <p:nvPr/>
        </p:nvGrpSpPr>
        <p:grpSpPr>
          <a:xfrm>
            <a:off x="300240" y="2857680"/>
            <a:ext cx="4029840" cy="1362240"/>
            <a:chOff x="300240" y="2857680"/>
            <a:chExt cx="4029840" cy="1362240"/>
          </a:xfrm>
        </p:grpSpPr>
        <p:cxnSp>
          <p:nvCxnSpPr>
            <p:cNvPr id="26" name="Google Shape;86;p16"/>
            <p:cNvCxnSpPr>
              <a:stCxn id="27" idx="2"/>
            </p:cNvCxnSpPr>
            <p:nvPr/>
          </p:nvCxnSpPr>
          <p:spPr>
            <a:xfrm>
              <a:off x="1662480" y="3538800"/>
              <a:ext cx="2667960" cy="360"/>
            </a:xfrm>
            <a:prstGeom prst="straightConnector1">
              <a:avLst/>
            </a:prstGeom>
            <a:ln w="9525">
              <a:solidFill>
                <a:srgbClr val="787788"/>
              </a:solidFill>
              <a:prstDash val="dash"/>
              <a:round/>
            </a:ln>
          </p:spPr>
        </p:cxnSp>
        <p:sp>
          <p:nvSpPr>
            <p:cNvPr id="27" name="Google Shape;87;p16"/>
            <p:cNvSpPr/>
            <p:nvPr/>
          </p:nvSpPr>
          <p:spPr>
            <a:xfrm flipH="1">
              <a:off x="300240" y="2857680"/>
              <a:ext cx="1362240" cy="1362240"/>
            </a:xfrm>
            <a:prstGeom prst="ellipse">
              <a:avLst/>
            </a:prstGeom>
            <a:noFill/>
            <a:ln w="9525">
              <a:solidFill>
                <a:srgbClr val="787788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88;p16"/>
            <p:cNvSpPr/>
            <p:nvPr/>
          </p:nvSpPr>
          <p:spPr>
            <a:xfrm flipH="1">
              <a:off x="1127160" y="3025800"/>
              <a:ext cx="1025640" cy="1025640"/>
            </a:xfrm>
            <a:prstGeom prst="ellipse">
              <a:avLst/>
            </a:prstGeom>
            <a:noFill/>
            <a:ln w="9525">
              <a:solidFill>
                <a:srgbClr val="787788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7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90;p17" descr=""/>
          <p:cNvPicPr/>
          <p:nvPr/>
        </p:nvPicPr>
        <p:blipFill>
          <a:blip r:embed="rId2"/>
          <a:stretch/>
        </p:blipFill>
        <p:spPr>
          <a:xfrm>
            <a:off x="89280" y="77400"/>
            <a:ext cx="9002160" cy="4988160"/>
          </a:xfrm>
          <a:prstGeom prst="rect">
            <a:avLst/>
          </a:prstGeom>
          <a:noFill/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31" name="PlaceHolder 1"/>
          <p:cNvSpPr>
            <a:spLocks noGrp="1"/>
          </p:cNvSpPr>
          <p:nvPr>
            <p:ph type="body"/>
          </p:nvPr>
        </p:nvSpPr>
        <p:spPr>
          <a:xfrm>
            <a:off x="330840" y="1090080"/>
            <a:ext cx="4294080" cy="310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623200" y="130680"/>
            <a:ext cx="3395160" cy="487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title"/>
          </p:nvPr>
        </p:nvSpPr>
        <p:spPr>
          <a:xfrm>
            <a:off x="330840" y="312120"/>
            <a:ext cx="4294080" cy="65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95;p18" descr=""/>
          <p:cNvPicPr/>
          <p:nvPr/>
        </p:nvPicPr>
        <p:blipFill>
          <a:blip r:embed="rId2"/>
          <a:stretch/>
        </p:blipFill>
        <p:spPr>
          <a:xfrm>
            <a:off x="89280" y="77400"/>
            <a:ext cx="8970120" cy="4988160"/>
          </a:xfrm>
          <a:prstGeom prst="rect">
            <a:avLst/>
          </a:prstGeom>
          <a:noFill/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68680" y="2932560"/>
            <a:ext cx="3492360" cy="76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fr-FR" sz="4500" strike="noStrike" u="none">
                <a:solidFill>
                  <a:schemeClr val="accent1"/>
                </a:solidFill>
                <a:effectLst/>
                <a:uFillTx/>
                <a:latin typeface="Albert Sans"/>
                <a:ea typeface="Albert Sans"/>
              </a:rPr>
              <a:t>xx%</a:t>
            </a:r>
            <a:endParaRPr b="0" lang="fr-FR" sz="4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title"/>
          </p:nvPr>
        </p:nvSpPr>
        <p:spPr>
          <a:xfrm>
            <a:off x="2825640" y="875520"/>
            <a:ext cx="3492360" cy="76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fr-FR" sz="4500" strike="noStrike" u="none">
                <a:solidFill>
                  <a:schemeClr val="accent1"/>
                </a:solidFill>
                <a:effectLst/>
                <a:uFillTx/>
                <a:latin typeface="Albert Sans"/>
                <a:ea typeface="Albert Sans"/>
              </a:rPr>
              <a:t>xx%</a:t>
            </a:r>
            <a:endParaRPr b="0" lang="fr-FR" sz="4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title"/>
          </p:nvPr>
        </p:nvSpPr>
        <p:spPr>
          <a:xfrm>
            <a:off x="4782960" y="2932560"/>
            <a:ext cx="3492360" cy="76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fr-FR" sz="4500" strike="noStrike" u="none">
                <a:solidFill>
                  <a:schemeClr val="accent1"/>
                </a:solidFill>
                <a:effectLst/>
                <a:uFillTx/>
                <a:latin typeface="Albert Sans"/>
                <a:ea typeface="Albert Sans"/>
              </a:rPr>
              <a:t>xx%</a:t>
            </a:r>
            <a:endParaRPr b="0" lang="fr-FR" sz="4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103;p19" descr=""/>
          <p:cNvPicPr/>
          <p:nvPr/>
        </p:nvPicPr>
        <p:blipFill>
          <a:blip r:embed="rId2"/>
          <a:stretch/>
        </p:blipFill>
        <p:spPr>
          <a:xfrm>
            <a:off x="89280" y="77400"/>
            <a:ext cx="8970120" cy="4988160"/>
          </a:xfrm>
          <a:prstGeom prst="rect">
            <a:avLst/>
          </a:prstGeom>
          <a:noFill/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30840" y="302760"/>
            <a:ext cx="858420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112;p20" descr=""/>
          <p:cNvPicPr/>
          <p:nvPr/>
        </p:nvPicPr>
        <p:blipFill>
          <a:blip r:embed="rId2"/>
          <a:stretch/>
        </p:blipFill>
        <p:spPr>
          <a:xfrm>
            <a:off x="89280" y="77400"/>
            <a:ext cx="8970120" cy="4988160"/>
          </a:xfrm>
          <a:prstGeom prst="rect">
            <a:avLst/>
          </a:prstGeom>
          <a:noFill/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30840" y="3114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17;p3" descr=""/>
          <p:cNvPicPr/>
          <p:nvPr/>
        </p:nvPicPr>
        <p:blipFill>
          <a:blip r:embed="rId2"/>
          <a:stretch/>
        </p:blipFill>
        <p:spPr>
          <a:xfrm>
            <a:off x="89280" y="77400"/>
            <a:ext cx="8970120" cy="4988160"/>
          </a:xfrm>
          <a:prstGeom prst="rect">
            <a:avLst/>
          </a:prstGeom>
          <a:noFill/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351680" y="2888280"/>
            <a:ext cx="4041720" cy="148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title"/>
          </p:nvPr>
        </p:nvSpPr>
        <p:spPr>
          <a:xfrm>
            <a:off x="4351680" y="1608840"/>
            <a:ext cx="111708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xx%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162720" y="146520"/>
            <a:ext cx="3030120" cy="4839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6" name="Google Shape;21;p3"/>
          <p:cNvGrpSpPr/>
          <p:nvPr/>
        </p:nvGrpSpPr>
        <p:grpSpPr>
          <a:xfrm>
            <a:off x="5231160" y="1118880"/>
            <a:ext cx="4654440" cy="1941120"/>
            <a:chOff x="5231160" y="1118880"/>
            <a:chExt cx="4654440" cy="1941120"/>
          </a:xfrm>
        </p:grpSpPr>
        <p:cxnSp>
          <p:nvCxnSpPr>
            <p:cNvPr id="47" name="Google Shape;22;p3"/>
            <p:cNvCxnSpPr/>
            <p:nvPr/>
          </p:nvCxnSpPr>
          <p:spPr>
            <a:xfrm>
              <a:off x="5231160" y="2089440"/>
              <a:ext cx="1824840" cy="360"/>
            </a:xfrm>
            <a:prstGeom prst="straightConnector1">
              <a:avLst/>
            </a:prstGeom>
            <a:ln w="9525">
              <a:solidFill>
                <a:srgbClr val="787788"/>
              </a:solidFill>
              <a:prstDash val="dash"/>
              <a:round/>
            </a:ln>
          </p:spPr>
        </p:cxnSp>
        <p:sp>
          <p:nvSpPr>
            <p:cNvPr id="48" name="Google Shape;23;p3"/>
            <p:cNvSpPr/>
            <p:nvPr/>
          </p:nvSpPr>
          <p:spPr>
            <a:xfrm>
              <a:off x="7068600" y="1118880"/>
              <a:ext cx="1941120" cy="1941120"/>
            </a:xfrm>
            <a:prstGeom prst="ellipse">
              <a:avLst/>
            </a:prstGeom>
            <a:noFill/>
            <a:ln w="9525">
              <a:solidFill>
                <a:srgbClr val="787788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24;p3"/>
            <p:cNvSpPr/>
            <p:nvPr/>
          </p:nvSpPr>
          <p:spPr>
            <a:xfrm>
              <a:off x="7566840" y="1118880"/>
              <a:ext cx="1941120" cy="1941120"/>
            </a:xfrm>
            <a:prstGeom prst="ellipse">
              <a:avLst/>
            </a:prstGeom>
            <a:noFill/>
            <a:ln w="9525">
              <a:solidFill>
                <a:srgbClr val="787788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25;p3"/>
            <p:cNvSpPr/>
            <p:nvPr/>
          </p:nvSpPr>
          <p:spPr>
            <a:xfrm>
              <a:off x="7944480" y="1118880"/>
              <a:ext cx="1941120" cy="1941120"/>
            </a:xfrm>
            <a:prstGeom prst="ellipse">
              <a:avLst/>
            </a:prstGeom>
            <a:noFill/>
            <a:ln w="9525">
              <a:solidFill>
                <a:srgbClr val="787788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_1_1_1_1_1_1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123;p21" descr=""/>
          <p:cNvPicPr/>
          <p:nvPr/>
        </p:nvPicPr>
        <p:blipFill>
          <a:blip r:embed="rId2"/>
          <a:stretch/>
        </p:blipFill>
        <p:spPr>
          <a:xfrm>
            <a:off x="89280" y="77400"/>
            <a:ext cx="8965440" cy="498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21560" y="622800"/>
            <a:ext cx="4283640" cy="99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126;p21"/>
          <p:cNvSpPr/>
          <p:nvPr/>
        </p:nvSpPr>
        <p:spPr>
          <a:xfrm>
            <a:off x="578880" y="3402000"/>
            <a:ext cx="282636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000" strike="noStrike" u="non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CREDITS: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This presentation template was created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3"/>
              </a:rPr>
              <a:t>Slidesgo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</a:t>
            </a:r>
            <a:r>
              <a:rPr b="1" lang="en" sz="1000" strike="noStrike" u="non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and includes icons, infographics &amp; images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4"/>
              </a:rPr>
              <a:t>Freepik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4" name="Google Shape;127;p21"/>
          <p:cNvGrpSpPr/>
          <p:nvPr/>
        </p:nvGrpSpPr>
        <p:grpSpPr>
          <a:xfrm>
            <a:off x="617760" y="132840"/>
            <a:ext cx="11220120" cy="4877640"/>
            <a:chOff x="617760" y="132840"/>
            <a:chExt cx="11220120" cy="4877640"/>
          </a:xfrm>
        </p:grpSpPr>
        <p:sp>
          <p:nvSpPr>
            <p:cNvPr id="55" name="Google Shape;128;p21"/>
            <p:cNvSpPr/>
            <p:nvPr/>
          </p:nvSpPr>
          <p:spPr>
            <a:xfrm>
              <a:off x="6960240" y="132840"/>
              <a:ext cx="4877640" cy="4877640"/>
            </a:xfrm>
            <a:prstGeom prst="ellipse">
              <a:avLst/>
            </a:prstGeom>
            <a:noFill/>
            <a:ln w="9525">
              <a:solidFill>
                <a:srgbClr val="787788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129;p21"/>
            <p:cNvSpPr/>
            <p:nvPr/>
          </p:nvSpPr>
          <p:spPr>
            <a:xfrm>
              <a:off x="5135760" y="756000"/>
              <a:ext cx="3631320" cy="3631320"/>
            </a:xfrm>
            <a:prstGeom prst="ellipse">
              <a:avLst/>
            </a:prstGeom>
            <a:noFill/>
            <a:ln w="9525">
              <a:solidFill>
                <a:srgbClr val="787788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130;p21"/>
            <p:cNvSpPr/>
            <p:nvPr/>
          </p:nvSpPr>
          <p:spPr>
            <a:xfrm>
              <a:off x="4050360" y="1605240"/>
              <a:ext cx="1932480" cy="1932480"/>
            </a:xfrm>
            <a:prstGeom prst="ellipse">
              <a:avLst/>
            </a:prstGeom>
            <a:noFill/>
            <a:ln w="9525">
              <a:solidFill>
                <a:srgbClr val="787788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58" name="Google Shape;131;p21"/>
            <p:cNvCxnSpPr/>
            <p:nvPr/>
          </p:nvCxnSpPr>
          <p:spPr>
            <a:xfrm>
              <a:off x="617760" y="2665800"/>
              <a:ext cx="1903680" cy="360"/>
            </a:xfrm>
            <a:prstGeom prst="straightConnector1">
              <a:avLst/>
            </a:prstGeom>
            <a:ln w="9525">
              <a:solidFill>
                <a:srgbClr val="787788"/>
              </a:solidFill>
              <a:prstDash val="dash"/>
              <a:round/>
            </a:ln>
          </p:spPr>
        </p:cxnSp>
        <p:cxnSp>
          <p:nvCxnSpPr>
            <p:cNvPr id="59" name="Google Shape;132;p21"/>
            <p:cNvCxnSpPr/>
            <p:nvPr/>
          </p:nvCxnSpPr>
          <p:spPr>
            <a:xfrm>
              <a:off x="617760" y="3240000"/>
              <a:ext cx="1903680" cy="360"/>
            </a:xfrm>
            <a:prstGeom prst="straightConnector1">
              <a:avLst/>
            </a:prstGeom>
            <a:ln w="9525">
              <a:solidFill>
                <a:srgbClr val="787788"/>
              </a:solidFill>
              <a:prstDash val="dash"/>
              <a:round/>
            </a:ln>
          </p:spPr>
        </p:cxnSp>
      </p:grp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123;p21" descr=""/>
          <p:cNvPicPr/>
          <p:nvPr/>
        </p:nvPicPr>
        <p:blipFill>
          <a:blip r:embed="rId2"/>
          <a:stretch/>
        </p:blipFill>
        <p:spPr>
          <a:xfrm>
            <a:off x="89280" y="77400"/>
            <a:ext cx="8965440" cy="498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21560" y="622800"/>
            <a:ext cx="4283640" cy="99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126;p21"/>
          <p:cNvSpPr/>
          <p:nvPr/>
        </p:nvSpPr>
        <p:spPr>
          <a:xfrm>
            <a:off x="578880" y="3402000"/>
            <a:ext cx="282636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000" strike="noStrike" u="non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CREDITS: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This presentation template was created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3"/>
              </a:rPr>
              <a:t>Slidesgo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</a:t>
            </a:r>
            <a:r>
              <a:rPr b="1" lang="en" sz="1000" strike="noStrike" u="non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and includes icons, infographics &amp; images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4"/>
              </a:rPr>
              <a:t>Freepik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3" name="Google Shape;127;p21"/>
          <p:cNvGrpSpPr/>
          <p:nvPr/>
        </p:nvGrpSpPr>
        <p:grpSpPr>
          <a:xfrm>
            <a:off x="617760" y="132840"/>
            <a:ext cx="11220120" cy="4877640"/>
            <a:chOff x="617760" y="132840"/>
            <a:chExt cx="11220120" cy="4877640"/>
          </a:xfrm>
        </p:grpSpPr>
        <p:sp>
          <p:nvSpPr>
            <p:cNvPr id="55" name="Google Shape;128;p21"/>
            <p:cNvSpPr/>
            <p:nvPr/>
          </p:nvSpPr>
          <p:spPr>
            <a:xfrm>
              <a:off x="6960240" y="132840"/>
              <a:ext cx="4877640" cy="4877640"/>
            </a:xfrm>
            <a:prstGeom prst="ellipse">
              <a:avLst/>
            </a:prstGeom>
            <a:noFill/>
            <a:ln w="9525">
              <a:solidFill>
                <a:srgbClr val="787788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129;p21"/>
            <p:cNvSpPr/>
            <p:nvPr/>
          </p:nvSpPr>
          <p:spPr>
            <a:xfrm>
              <a:off x="5135760" y="756000"/>
              <a:ext cx="3631320" cy="3631320"/>
            </a:xfrm>
            <a:prstGeom prst="ellipse">
              <a:avLst/>
            </a:prstGeom>
            <a:noFill/>
            <a:ln w="9525">
              <a:solidFill>
                <a:srgbClr val="787788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130;p21"/>
            <p:cNvSpPr/>
            <p:nvPr/>
          </p:nvSpPr>
          <p:spPr>
            <a:xfrm>
              <a:off x="4050360" y="1605240"/>
              <a:ext cx="1932480" cy="1932480"/>
            </a:xfrm>
            <a:prstGeom prst="ellipse">
              <a:avLst/>
            </a:prstGeom>
            <a:noFill/>
            <a:ln w="9525">
              <a:solidFill>
                <a:srgbClr val="787788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64" name="Google Shape;131;p21"/>
            <p:cNvCxnSpPr/>
            <p:nvPr/>
          </p:nvCxnSpPr>
          <p:spPr>
            <a:xfrm>
              <a:off x="617760" y="2665800"/>
              <a:ext cx="1903680" cy="360"/>
            </a:xfrm>
            <a:prstGeom prst="straightConnector1">
              <a:avLst/>
            </a:prstGeom>
            <a:ln w="9525">
              <a:solidFill>
                <a:srgbClr val="787788"/>
              </a:solidFill>
              <a:prstDash val="dash"/>
              <a:round/>
            </a:ln>
          </p:spPr>
        </p:cxnSp>
        <p:cxnSp>
          <p:nvCxnSpPr>
            <p:cNvPr id="65" name="Google Shape;132;p21"/>
            <p:cNvCxnSpPr/>
            <p:nvPr/>
          </p:nvCxnSpPr>
          <p:spPr>
            <a:xfrm>
              <a:off x="617760" y="3240000"/>
              <a:ext cx="1903680" cy="360"/>
            </a:xfrm>
            <a:prstGeom prst="straightConnector1">
              <a:avLst/>
            </a:prstGeom>
            <a:ln w="9525">
              <a:solidFill>
                <a:srgbClr val="787788"/>
              </a:solidFill>
              <a:prstDash val="dash"/>
              <a:round/>
            </a:ln>
          </p:spPr>
        </p:cxnSp>
      </p:grp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134;p22" descr=""/>
          <p:cNvPicPr/>
          <p:nvPr/>
        </p:nvPicPr>
        <p:blipFill>
          <a:blip r:embed="rId2"/>
          <a:stretch/>
        </p:blipFill>
        <p:spPr>
          <a:xfrm>
            <a:off x="89280" y="77400"/>
            <a:ext cx="8970120" cy="4988160"/>
          </a:xfrm>
          <a:prstGeom prst="rect">
            <a:avLst/>
          </a:prstGeom>
          <a:noFill/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136;p23" descr=""/>
          <p:cNvPicPr/>
          <p:nvPr/>
        </p:nvPicPr>
        <p:blipFill>
          <a:blip r:embed="rId2"/>
          <a:stretch/>
        </p:blipFill>
        <p:spPr>
          <a:xfrm>
            <a:off x="89280" y="77400"/>
            <a:ext cx="8965440" cy="49881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27;p4" descr=""/>
          <p:cNvPicPr/>
          <p:nvPr/>
        </p:nvPicPr>
        <p:blipFill>
          <a:blip r:embed="rId2"/>
          <a:stretch/>
        </p:blipFill>
        <p:spPr>
          <a:xfrm>
            <a:off x="91080" y="63000"/>
            <a:ext cx="8961840" cy="501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720000" y="1152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31;p5" descr=""/>
          <p:cNvPicPr/>
          <p:nvPr/>
        </p:nvPicPr>
        <p:blipFill>
          <a:blip r:embed="rId2"/>
          <a:stretch/>
        </p:blipFill>
        <p:spPr>
          <a:xfrm>
            <a:off x="89280" y="77400"/>
            <a:ext cx="8965440" cy="498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330840" y="31032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38;p6" descr=""/>
          <p:cNvPicPr/>
          <p:nvPr/>
        </p:nvPicPr>
        <p:blipFill>
          <a:blip r:embed="rId2"/>
          <a:stretch/>
        </p:blipFill>
        <p:spPr>
          <a:xfrm flipH="1">
            <a:off x="89640" y="79920"/>
            <a:ext cx="8970120" cy="4997160"/>
          </a:xfrm>
          <a:prstGeom prst="rect">
            <a:avLst/>
          </a:prstGeom>
          <a:noFill/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30840" y="311400"/>
            <a:ext cx="858420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41;p7" descr=""/>
          <p:cNvPicPr/>
          <p:nvPr/>
        </p:nvPicPr>
        <p:blipFill>
          <a:blip r:embed="rId2"/>
          <a:stretch/>
        </p:blipFill>
        <p:spPr>
          <a:xfrm>
            <a:off x="91080" y="63000"/>
            <a:ext cx="8961840" cy="501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4236840" cy="108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720000" y="1864080"/>
            <a:ext cx="4008960" cy="270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5654880" y="137160"/>
            <a:ext cx="3331080" cy="484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46;p8" descr=""/>
          <p:cNvPicPr/>
          <p:nvPr/>
        </p:nvPicPr>
        <p:blipFill>
          <a:blip r:embed="rId2"/>
          <a:stretch/>
        </p:blipFill>
        <p:spPr>
          <a:xfrm flipH="1">
            <a:off x="89640" y="79920"/>
            <a:ext cx="8970120" cy="4997160"/>
          </a:xfrm>
          <a:prstGeom prst="rect">
            <a:avLst/>
          </a:prstGeom>
          <a:noFill/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724120" y="1307160"/>
            <a:ext cx="3695400" cy="252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49;p9" descr=""/>
          <p:cNvPicPr/>
          <p:nvPr/>
        </p:nvPicPr>
        <p:blipFill>
          <a:blip r:embed="rId2"/>
          <a:stretch/>
        </p:blipFill>
        <p:spPr>
          <a:xfrm>
            <a:off x="91080" y="63000"/>
            <a:ext cx="8961840" cy="501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2201760" y="1584720"/>
            <a:ext cx="474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body"/>
          </p:nvPr>
        </p:nvSpPr>
        <p:spPr>
          <a:xfrm>
            <a:off x="-6840" y="0"/>
            <a:ext cx="9143640" cy="515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720000" y="4038120"/>
            <a:ext cx="7703640" cy="5724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142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145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9;p2" descr=""/>
          <p:cNvPicPr/>
          <p:nvPr/>
        </p:nvPicPr>
        <p:blipFill>
          <a:blip r:embed="rId2"/>
          <a:stretch/>
        </p:blipFill>
        <p:spPr>
          <a:xfrm>
            <a:off x="83880" y="77040"/>
            <a:ext cx="8975880" cy="4988880"/>
          </a:xfrm>
          <a:prstGeom prst="rect">
            <a:avLst/>
          </a:prstGeom>
          <a:noFill/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330840" y="401040"/>
            <a:ext cx="5645880" cy="163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oogle Shape;12;p2"/>
          <p:cNvGrpSpPr/>
          <p:nvPr/>
        </p:nvGrpSpPr>
        <p:grpSpPr>
          <a:xfrm>
            <a:off x="4050360" y="132840"/>
            <a:ext cx="7787520" cy="4877640"/>
            <a:chOff x="4050360" y="132840"/>
            <a:chExt cx="7787520" cy="4877640"/>
          </a:xfrm>
        </p:grpSpPr>
        <p:sp>
          <p:nvSpPr>
            <p:cNvPr id="3" name="Google Shape;13;p2"/>
            <p:cNvSpPr/>
            <p:nvPr/>
          </p:nvSpPr>
          <p:spPr>
            <a:xfrm>
              <a:off x="6960240" y="132840"/>
              <a:ext cx="4877640" cy="4877640"/>
            </a:xfrm>
            <a:prstGeom prst="ellipse">
              <a:avLst/>
            </a:prstGeom>
            <a:noFill/>
            <a:ln w="9525">
              <a:solidFill>
                <a:srgbClr val="787788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" name="Google Shape;14;p2"/>
            <p:cNvSpPr/>
            <p:nvPr/>
          </p:nvSpPr>
          <p:spPr>
            <a:xfrm>
              <a:off x="5135760" y="756000"/>
              <a:ext cx="3631320" cy="3631320"/>
            </a:xfrm>
            <a:prstGeom prst="ellipse">
              <a:avLst/>
            </a:prstGeom>
            <a:noFill/>
            <a:ln w="9525">
              <a:solidFill>
                <a:srgbClr val="787788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" name="Google Shape;15;p2"/>
            <p:cNvSpPr/>
            <p:nvPr/>
          </p:nvSpPr>
          <p:spPr>
            <a:xfrm>
              <a:off x="4050360" y="1605240"/>
              <a:ext cx="1932480" cy="1932480"/>
            </a:xfrm>
            <a:prstGeom prst="ellipse">
              <a:avLst/>
            </a:prstGeom>
            <a:noFill/>
            <a:ln w="9525">
              <a:solidFill>
                <a:srgbClr val="787788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2"/>
    <p:sldLayoutId id="2147483675" r:id="rId3"/>
    <p:sldLayoutId id="2147483676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33360" y="399960"/>
            <a:ext cx="5648040" cy="16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GNN Basics</a:t>
            </a:r>
            <a:endParaRPr b="0" lang="fr-FR" sz="3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333360" y="4181400"/>
            <a:ext cx="4924080" cy="5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DM Sans Light"/>
              </a:rPr>
              <a:t>Introduction to graph neural networks concepts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333360" y="304920"/>
            <a:ext cx="8096040" cy="115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Introduction</a:t>
            </a:r>
            <a:endParaRPr b="0" lang="fr-FR" sz="3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4572000" y="2085840"/>
            <a:ext cx="4247640" cy="270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M Sans Light"/>
              </a:rPr>
              <a:t>Graph Neural Networks (GNNs)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M Sans Light"/>
              </a:rPr>
              <a:t> extend traditional neural networks by learning from graph-structured data, capturing relationships and features of nodes and edges for richer insights.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/>
          </p:nvPr>
        </p:nvSpPr>
        <p:spPr>
          <a:xfrm>
            <a:off x="333360" y="1085760"/>
            <a:ext cx="4295520" cy="301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spcBef>
                <a:spcPts val="1417"/>
              </a:spcBef>
              <a:buNone/>
            </a:pPr>
            <a:endParaRPr b="0" lang="fr-FR" sz="1200" strike="noStrike" u="none">
              <a:solidFill>
                <a:schemeClr val="dk1"/>
              </a:solidFill>
              <a:effectLst/>
              <a:uFillTx/>
              <a:latin typeface="DM Sans Light"/>
              <a:ea typeface="DM Sans Light"/>
            </a:endParaRPr>
          </a:p>
        </p:txBody>
      </p:sp>
      <p:sp>
        <p:nvSpPr>
          <p:cNvPr id="96" name="Google Shape;298;p37" title="futuristic-technology-hologram (1).jpg"/>
          <p:cNvSpPr/>
          <p:nvPr/>
        </p:nvSpPr>
        <p:spPr>
          <a:xfrm>
            <a:off x="5623200" y="130680"/>
            <a:ext cx="3395160" cy="4876920"/>
          </a:xfrm>
          <a:prstGeom prst="roundRect">
            <a:avLst>
              <a:gd name="adj" fmla="val 6782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333360" y="314280"/>
            <a:ext cx="4295520" cy="65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0000" lnSpcReduction="1999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Introduction to Graph Neural Networks</a:t>
            </a:r>
            <a:endParaRPr b="0" lang="fr-FR" sz="3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300;p37"/>
          <p:cNvSpPr/>
          <p:nvPr/>
        </p:nvSpPr>
        <p:spPr>
          <a:xfrm>
            <a:off x="-428760" y="4257720"/>
            <a:ext cx="3228480" cy="32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1614240" bIns="161424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301;p37"/>
          <p:cNvSpPr/>
          <p:nvPr/>
        </p:nvSpPr>
        <p:spPr>
          <a:xfrm>
            <a:off x="1676520" y="4448160"/>
            <a:ext cx="2238120" cy="22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1119240" bIns="111924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302;p37"/>
          <p:cNvSpPr/>
          <p:nvPr/>
        </p:nvSpPr>
        <p:spPr>
          <a:xfrm>
            <a:off x="3228840" y="4857840"/>
            <a:ext cx="1733040" cy="173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866520" bIns="86652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333360" y="304920"/>
            <a:ext cx="8096040" cy="115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Basics of Neural Networks and Graphs</a:t>
            </a:r>
            <a:endParaRPr b="0" lang="fr-FR" sz="3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ubTitle"/>
          </p:nvPr>
        </p:nvSpPr>
        <p:spPr>
          <a:xfrm>
            <a:off x="4572000" y="2085840"/>
            <a:ext cx="4247640" cy="270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M Sans Light"/>
              </a:rPr>
              <a:t>Neural networks learn patterns from structured data like images and text, while graphs model complex relationships through nodes and edges, enabling analysis of irregular data.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/>
          </p:nvPr>
        </p:nvSpPr>
        <p:spPr>
          <a:xfrm>
            <a:off x="333360" y="1085760"/>
            <a:ext cx="4295520" cy="310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343080" indent="-2952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M Sans Light"/>
              </a:rPr>
              <a:t>GNNs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M Sans Light"/>
              </a:rPr>
              <a:t> leverage graph topology and node features to perform tasks such as node, edge, and graph-level predictions, crucial for applications in diverse fields like biology and social networks.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298;p37" title="futuristic-technology-hologram (1).jpg"/>
          <p:cNvSpPr/>
          <p:nvPr/>
        </p:nvSpPr>
        <p:spPr>
          <a:xfrm>
            <a:off x="5623200" y="130680"/>
            <a:ext cx="3395160" cy="4876920"/>
          </a:xfrm>
          <a:prstGeom prst="roundRect">
            <a:avLst>
              <a:gd name="adj" fmla="val 6782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title"/>
          </p:nvPr>
        </p:nvSpPr>
        <p:spPr>
          <a:xfrm>
            <a:off x="333360" y="314280"/>
            <a:ext cx="4295520" cy="65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0000" lnSpcReduction="1999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Definition and Importance of GNNs</a:t>
            </a:r>
            <a:endParaRPr b="0" lang="fr-FR" sz="3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300;p37"/>
          <p:cNvSpPr/>
          <p:nvPr/>
        </p:nvSpPr>
        <p:spPr>
          <a:xfrm>
            <a:off x="-428760" y="4257720"/>
            <a:ext cx="3228480" cy="32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1614240" bIns="161424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301;p37"/>
          <p:cNvSpPr/>
          <p:nvPr/>
        </p:nvSpPr>
        <p:spPr>
          <a:xfrm>
            <a:off x="1676520" y="4448160"/>
            <a:ext cx="2238120" cy="22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1119240" bIns="111924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302;p37"/>
          <p:cNvSpPr/>
          <p:nvPr/>
        </p:nvSpPr>
        <p:spPr>
          <a:xfrm>
            <a:off x="3228840" y="4857840"/>
            <a:ext cx="1733040" cy="173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866520" bIns="86652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333360" y="304920"/>
            <a:ext cx="8096040" cy="115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Comparison of Traditional NNs and GNNs</a:t>
            </a:r>
            <a:endParaRPr b="0" lang="fr-FR" sz="3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subTitle"/>
          </p:nvPr>
        </p:nvSpPr>
        <p:spPr>
          <a:xfrm>
            <a:off x="4572000" y="2085840"/>
            <a:ext cx="4247640" cy="270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M Sans Light"/>
              </a:rPr>
              <a:t>Traditional neural networks excel with grid-like data but struggle with irregular structures.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M Sans Light"/>
              </a:rPr>
              <a:t>Graph Neural Networks (GNNs)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M Sans Light"/>
              </a:rPr>
              <a:t> effectively process graph data by leveraging both node features and their relationships, providing enhanced modeling of complex interconnected information.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/>
          </p:nvPr>
        </p:nvSpPr>
        <p:spPr>
          <a:xfrm>
            <a:off x="333360" y="1085760"/>
            <a:ext cx="4295520" cy="301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spcBef>
                <a:spcPts val="1417"/>
              </a:spcBef>
              <a:buNone/>
            </a:pPr>
            <a:endParaRPr b="0" lang="fr-FR" sz="1200" strike="noStrike" u="none">
              <a:solidFill>
                <a:schemeClr val="dk1"/>
              </a:solidFill>
              <a:effectLst/>
              <a:uFillTx/>
              <a:latin typeface="DM Sans Light"/>
              <a:ea typeface="DM Sans Light"/>
            </a:endParaRPr>
          </a:p>
        </p:txBody>
      </p:sp>
      <p:sp>
        <p:nvSpPr>
          <p:cNvPr id="112" name="Google Shape;298;p37" title="futuristic-technology-hologram (1).jpg"/>
          <p:cNvSpPr/>
          <p:nvPr/>
        </p:nvSpPr>
        <p:spPr>
          <a:xfrm>
            <a:off x="5623200" y="130680"/>
            <a:ext cx="3395160" cy="4876920"/>
          </a:xfrm>
          <a:prstGeom prst="roundRect">
            <a:avLst>
              <a:gd name="adj" fmla="val 6782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title"/>
          </p:nvPr>
        </p:nvSpPr>
        <p:spPr>
          <a:xfrm>
            <a:off x="333360" y="314280"/>
            <a:ext cx="4295520" cy="65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0000" lnSpcReduction="1999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GNN Architecture and Applications</a:t>
            </a:r>
            <a:endParaRPr b="0" lang="fr-FR" sz="3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300;p37"/>
          <p:cNvSpPr/>
          <p:nvPr/>
        </p:nvSpPr>
        <p:spPr>
          <a:xfrm>
            <a:off x="-428760" y="4257720"/>
            <a:ext cx="3228480" cy="32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1614240" bIns="161424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301;p37"/>
          <p:cNvSpPr/>
          <p:nvPr/>
        </p:nvSpPr>
        <p:spPr>
          <a:xfrm>
            <a:off x="1676520" y="4448160"/>
            <a:ext cx="2238120" cy="22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1119240" bIns="111924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302;p37"/>
          <p:cNvSpPr/>
          <p:nvPr/>
        </p:nvSpPr>
        <p:spPr>
          <a:xfrm>
            <a:off x="3228840" y="4857840"/>
            <a:ext cx="1733040" cy="173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866520" bIns="86652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/>
          </p:nvPr>
        </p:nvSpPr>
        <p:spPr>
          <a:xfrm>
            <a:off x="333360" y="1085760"/>
            <a:ext cx="4295520" cy="310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343080" indent="-2952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M Sans Light"/>
              </a:rPr>
              <a:t>GNNs operate via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M Sans Light"/>
              </a:rPr>
              <a:t>message passing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M Sans Light"/>
              </a:rPr>
              <a:t>, where nodes aggregate information from neighbors, update embeddings through neural layers, and capture multi-hop relationships, enabling rich and context-aware node representations.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298;p37" title="futuristic-technology-hologram (1).jpg"/>
          <p:cNvSpPr/>
          <p:nvPr/>
        </p:nvSpPr>
        <p:spPr>
          <a:xfrm>
            <a:off x="5623200" y="130680"/>
            <a:ext cx="3395160" cy="4876920"/>
          </a:xfrm>
          <a:prstGeom prst="roundRect">
            <a:avLst>
              <a:gd name="adj" fmla="val 6782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title"/>
          </p:nvPr>
        </p:nvSpPr>
        <p:spPr>
          <a:xfrm>
            <a:off x="333360" y="314280"/>
            <a:ext cx="4295520" cy="65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0000" lnSpcReduction="1999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Message Passing Mechanism in GNNs</a:t>
            </a:r>
            <a:endParaRPr b="0" lang="fr-FR" sz="3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300;p37"/>
          <p:cNvSpPr/>
          <p:nvPr/>
        </p:nvSpPr>
        <p:spPr>
          <a:xfrm>
            <a:off x="-428760" y="4257720"/>
            <a:ext cx="3228480" cy="32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1614240" bIns="161424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301;p37"/>
          <p:cNvSpPr/>
          <p:nvPr/>
        </p:nvSpPr>
        <p:spPr>
          <a:xfrm>
            <a:off x="1676520" y="4448160"/>
            <a:ext cx="2238120" cy="22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1119240" bIns="111924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302;p37"/>
          <p:cNvSpPr/>
          <p:nvPr/>
        </p:nvSpPr>
        <p:spPr>
          <a:xfrm>
            <a:off x="3228840" y="4857840"/>
            <a:ext cx="1733040" cy="173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866520" bIns="86652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333360" y="304920"/>
            <a:ext cx="8096040" cy="115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Popular GNN Models and Real-world Examples</a:t>
            </a:r>
            <a:endParaRPr b="0" lang="fr-FR" sz="3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ubTitle"/>
          </p:nvPr>
        </p:nvSpPr>
        <p:spPr>
          <a:xfrm>
            <a:off x="4572000" y="2085840"/>
            <a:ext cx="4247640" cy="270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M Sans Light"/>
              </a:rPr>
              <a:t>Notable GNNs include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M Sans Light"/>
              </a:rPr>
              <a:t>GCN, GAT, and GraphSAGE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M Sans Light"/>
              </a:rPr>
              <a:t>, applied in diverse fields such as traffic prediction, recommendation systems, and brain network analysis, showcasing their versatility and effectiveness.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333360" y="304920"/>
            <a:ext cx="8096040" cy="115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Use Cases in Social Networks and Molecular Biology</a:t>
            </a:r>
            <a:endParaRPr b="0" lang="fr-FR" sz="3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subTitle"/>
          </p:nvPr>
        </p:nvSpPr>
        <p:spPr>
          <a:xfrm>
            <a:off x="4572000" y="2085840"/>
            <a:ext cx="4247640" cy="270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M Sans Light"/>
              </a:rPr>
              <a:t>In social networks, GNNs support community detection, recommendations, and anomaly detection. In molecular biology, they aid drug discovery, protein interaction analysis, and personalized treatments, driving innovation in both domains.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/>
          </p:nvPr>
        </p:nvSpPr>
        <p:spPr>
          <a:xfrm>
            <a:off x="333360" y="1085760"/>
            <a:ext cx="4295520" cy="310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343080" indent="-2952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M Sans Light"/>
              </a:rPr>
              <a:t>Future GNN research focuses on enhancing scalability, supporting dynamic and heterogeneous graphs, improving explainability, and integrating with other AI fields, unlocking further potential for complex graph data analysis.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298;p37" title="futuristic-technology-hologram (1).jpg"/>
          <p:cNvSpPr/>
          <p:nvPr/>
        </p:nvSpPr>
        <p:spPr>
          <a:xfrm>
            <a:off x="5623200" y="130680"/>
            <a:ext cx="3395160" cy="4876920"/>
          </a:xfrm>
          <a:prstGeom prst="roundRect">
            <a:avLst>
              <a:gd name="adj" fmla="val 6782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title"/>
          </p:nvPr>
        </p:nvSpPr>
        <p:spPr>
          <a:xfrm>
            <a:off x="333360" y="314280"/>
            <a:ext cx="4295520" cy="65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Conclusions</a:t>
            </a:r>
            <a:endParaRPr b="0" lang="fr-FR" sz="3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300;p37"/>
          <p:cNvSpPr/>
          <p:nvPr/>
        </p:nvSpPr>
        <p:spPr>
          <a:xfrm>
            <a:off x="-428760" y="4257720"/>
            <a:ext cx="3228480" cy="32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1614240" bIns="161424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301;p37"/>
          <p:cNvSpPr/>
          <p:nvPr/>
        </p:nvSpPr>
        <p:spPr>
          <a:xfrm>
            <a:off x="1676520" y="4448160"/>
            <a:ext cx="2238120" cy="22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1119240" bIns="111924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302;p37"/>
          <p:cNvSpPr/>
          <p:nvPr/>
        </p:nvSpPr>
        <p:spPr>
          <a:xfrm>
            <a:off x="3228840" y="4857840"/>
            <a:ext cx="1733040" cy="173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866520" bIns="86652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ubTitle"/>
          </p:nvPr>
        </p:nvSpPr>
        <p:spPr>
          <a:xfrm>
            <a:off x="581040" y="1571760"/>
            <a:ext cx="3514320" cy="100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DM Sans Light"/>
                <a:ea typeface="DM Sans Light"/>
              </a:rPr>
              <a:t>Do you have any questions?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DM Sans Light"/>
                <a:ea typeface="DM Sans Light"/>
              </a:rPr>
              <a:t>youremail@freepik.com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DM Sans Light"/>
                <a:ea typeface="DM Sans Light"/>
              </a:rPr>
              <a:t>+00 000 000 000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DM Sans Light"/>
                <a:ea typeface="DM Sans Light"/>
              </a:rPr>
              <a:t>yourwebsite.com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title"/>
          </p:nvPr>
        </p:nvSpPr>
        <p:spPr>
          <a:xfrm>
            <a:off x="419040" y="619200"/>
            <a:ext cx="4285800" cy="201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Thanks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355;p41"/>
          <p:cNvSpPr/>
          <p:nvPr/>
        </p:nvSpPr>
        <p:spPr>
          <a:xfrm>
            <a:off x="676440" y="4095720"/>
            <a:ext cx="327636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36" name="Google Shape;356;p41"/>
          <p:cNvGrpSpPr/>
          <p:nvPr/>
        </p:nvGrpSpPr>
        <p:grpSpPr>
          <a:xfrm>
            <a:off x="694080" y="2802600"/>
            <a:ext cx="275760" cy="275760"/>
            <a:chOff x="694080" y="2802600"/>
            <a:chExt cx="275760" cy="275760"/>
          </a:xfrm>
        </p:grpSpPr>
        <p:sp>
          <p:nvSpPr>
            <p:cNvPr id="137" name="Google Shape;357;p41"/>
            <p:cNvSpPr/>
            <p:nvPr/>
          </p:nvSpPr>
          <p:spPr>
            <a:xfrm>
              <a:off x="694080" y="2802600"/>
              <a:ext cx="275760" cy="275760"/>
            </a:xfrm>
            <a:custGeom>
              <a:avLst/>
              <a:gdLst>
                <a:gd name="textAreaLeft" fmla="*/ 0 w 275760"/>
                <a:gd name="textAreaRight" fmla="*/ 276120 w 275760"/>
                <a:gd name="textAreaTop" fmla="*/ 0 h 275760"/>
                <a:gd name="textAreaBottom" fmla="*/ 276120 h 275760"/>
              </a:gdLst>
              <a:ahLst/>
              <a:cxnLst/>
              <a:rect l="textAreaLeft" t="textAreaTop" r="textAreaRight" b="textAreaBottom"/>
              <a:pathLst>
                <a:path w="6764" h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358;p41"/>
            <p:cNvSpPr/>
            <p:nvPr/>
          </p:nvSpPr>
          <p:spPr>
            <a:xfrm>
              <a:off x="758160" y="2868120"/>
              <a:ext cx="146880" cy="14400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144000"/>
                <a:gd name="textAreaBottom" fmla="*/ 144360 h 144000"/>
              </a:gdLst>
              <a:ahLst/>
              <a:cxnLst/>
              <a:rect l="textAreaLeft" t="textAreaTop" r="textAreaRight" b="textAreaBottom"/>
              <a:pathLst>
                <a:path w="3607" h="3542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00" bIns="72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359;p41"/>
            <p:cNvSpPr/>
            <p:nvPr/>
          </p:nvSpPr>
          <p:spPr>
            <a:xfrm>
              <a:off x="888120" y="2837880"/>
              <a:ext cx="37440" cy="3708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929" h="918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0" name="Google Shape;360;p41"/>
          <p:cNvGrpSpPr/>
          <p:nvPr/>
        </p:nvGrpSpPr>
        <p:grpSpPr>
          <a:xfrm>
            <a:off x="1379160" y="2821320"/>
            <a:ext cx="266400" cy="237960"/>
            <a:chOff x="1379160" y="2821320"/>
            <a:chExt cx="266400" cy="237960"/>
          </a:xfrm>
        </p:grpSpPr>
        <p:sp>
          <p:nvSpPr>
            <p:cNvPr id="141" name="Google Shape;361;p41"/>
            <p:cNvSpPr/>
            <p:nvPr/>
          </p:nvSpPr>
          <p:spPr>
            <a:xfrm>
              <a:off x="1388520" y="2905200"/>
              <a:ext cx="60840" cy="15408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154080"/>
                <a:gd name="textAreaBottom" fmla="*/ 154440 h 154080"/>
              </a:gdLst>
              <a:ahLst/>
              <a:cxnLst/>
              <a:rect l="textAreaLeft" t="textAreaTop" r="textAreaRight" b="textAreaBottom"/>
              <a:pathLst>
                <a:path w="1502" h="3787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7040" bIns="77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362;p41"/>
            <p:cNvSpPr/>
            <p:nvPr/>
          </p:nvSpPr>
          <p:spPr>
            <a:xfrm>
              <a:off x="1379160" y="2821320"/>
              <a:ext cx="70200" cy="7020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70200"/>
                <a:gd name="textAreaBottom" fmla="*/ 70560 h 70200"/>
              </a:gdLst>
              <a:ahLst/>
              <a:cxnLst/>
              <a:rect l="textAreaLeft" t="textAreaTop" r="textAreaRight" b="textAreaBottom"/>
              <a:pathLst>
                <a:path w="1728" h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280" bIns="35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363;p41"/>
            <p:cNvSpPr/>
            <p:nvPr/>
          </p:nvSpPr>
          <p:spPr>
            <a:xfrm>
              <a:off x="1481760" y="2905200"/>
              <a:ext cx="163800" cy="154080"/>
            </a:xfrm>
            <a:custGeom>
              <a:avLst/>
              <a:gdLst>
                <a:gd name="textAreaLeft" fmla="*/ 0 w 163800"/>
                <a:gd name="textAreaRight" fmla="*/ 164160 w 163800"/>
                <a:gd name="textAreaTop" fmla="*/ 0 h 154080"/>
                <a:gd name="textAreaBottom" fmla="*/ 154440 h 154080"/>
              </a:gdLst>
              <a:ahLst/>
              <a:cxnLst/>
              <a:rect l="textAreaLeft" t="textAreaTop" r="textAreaRight" b="textAreaBottom"/>
              <a:pathLst>
                <a:path w="4026" h="3787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7040" bIns="77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4" name="Google Shape;364;p41"/>
          <p:cNvSpPr/>
          <p:nvPr/>
        </p:nvSpPr>
        <p:spPr>
          <a:xfrm>
            <a:off x="2055240" y="2821320"/>
            <a:ext cx="291240" cy="237600"/>
          </a:xfrm>
          <a:custGeom>
            <a:avLst/>
            <a:gdLst>
              <a:gd name="textAreaLeft" fmla="*/ 0 w 291240"/>
              <a:gd name="textAreaRight" fmla="*/ 291600 w 291240"/>
              <a:gd name="textAreaTop" fmla="*/ 0 h 237600"/>
              <a:gd name="textAreaBottom" fmla="*/ 237960 h 237600"/>
            </a:gdLst>
            <a:ahLst/>
            <a:cxnLst/>
            <a:rect l="textAreaLeft" t="textAreaTop" r="textAreaRight" b="textAreaBottom"/>
            <a:pathLst>
              <a:path w="7144" h="5835">
                <a:moveTo>
                  <a:pt x="4620" y="0"/>
                </a:moveTo>
                <a:cubicBezTo>
                  <a:pt x="3727" y="0"/>
                  <a:pt x="2977" y="691"/>
                  <a:pt x="2905" y="1572"/>
                </a:cubicBezTo>
                <a:cubicBezTo>
                  <a:pt x="2727" y="1548"/>
                  <a:pt x="2358" y="1441"/>
                  <a:pt x="2262" y="1405"/>
                </a:cubicBezTo>
                <a:cubicBezTo>
                  <a:pt x="1643" y="1203"/>
                  <a:pt x="1072" y="810"/>
                  <a:pt x="631" y="322"/>
                </a:cubicBezTo>
                <a:cubicBezTo>
                  <a:pt x="596" y="298"/>
                  <a:pt x="572" y="274"/>
                  <a:pt x="524" y="262"/>
                </a:cubicBezTo>
                <a:cubicBezTo>
                  <a:pt x="517" y="261"/>
                  <a:pt x="509" y="260"/>
                  <a:pt x="501" y="260"/>
                </a:cubicBezTo>
                <a:cubicBezTo>
                  <a:pt x="436" y="260"/>
                  <a:pt x="367" y="304"/>
                  <a:pt x="346" y="357"/>
                </a:cubicBezTo>
                <a:cubicBezTo>
                  <a:pt x="238" y="572"/>
                  <a:pt x="179" y="810"/>
                  <a:pt x="179" y="1048"/>
                </a:cubicBezTo>
                <a:cubicBezTo>
                  <a:pt x="179" y="1393"/>
                  <a:pt x="286" y="1727"/>
                  <a:pt x="476" y="1977"/>
                </a:cubicBezTo>
                <a:cubicBezTo>
                  <a:pt x="466" y="1975"/>
                  <a:pt x="456" y="1974"/>
                  <a:pt x="446" y="1974"/>
                </a:cubicBezTo>
                <a:cubicBezTo>
                  <a:pt x="397" y="1974"/>
                  <a:pt x="349" y="1997"/>
                  <a:pt x="310" y="2036"/>
                </a:cubicBezTo>
                <a:cubicBezTo>
                  <a:pt x="286" y="2060"/>
                  <a:pt x="286" y="2108"/>
                  <a:pt x="274" y="2143"/>
                </a:cubicBezTo>
                <a:lnTo>
                  <a:pt x="274" y="2203"/>
                </a:lnTo>
                <a:cubicBezTo>
                  <a:pt x="274" y="2655"/>
                  <a:pt x="476" y="3072"/>
                  <a:pt x="822" y="3358"/>
                </a:cubicBezTo>
                <a:cubicBezTo>
                  <a:pt x="786" y="3370"/>
                  <a:pt x="774" y="3405"/>
                  <a:pt x="762" y="3417"/>
                </a:cubicBezTo>
                <a:cubicBezTo>
                  <a:pt x="750" y="3465"/>
                  <a:pt x="727" y="3513"/>
                  <a:pt x="750" y="3548"/>
                </a:cubicBezTo>
                <a:cubicBezTo>
                  <a:pt x="893" y="4024"/>
                  <a:pt x="1262" y="4405"/>
                  <a:pt x="1727" y="4548"/>
                </a:cubicBezTo>
                <a:cubicBezTo>
                  <a:pt x="1310" y="4798"/>
                  <a:pt x="834" y="4941"/>
                  <a:pt x="334" y="4941"/>
                </a:cubicBezTo>
                <a:lnTo>
                  <a:pt x="191" y="4941"/>
                </a:lnTo>
                <a:cubicBezTo>
                  <a:pt x="107" y="4941"/>
                  <a:pt x="36" y="5001"/>
                  <a:pt x="12" y="5084"/>
                </a:cubicBezTo>
                <a:cubicBezTo>
                  <a:pt x="0" y="5156"/>
                  <a:pt x="48" y="5239"/>
                  <a:pt x="107" y="5263"/>
                </a:cubicBezTo>
                <a:cubicBezTo>
                  <a:pt x="727" y="5632"/>
                  <a:pt x="1465" y="5834"/>
                  <a:pt x="2191" y="5834"/>
                </a:cubicBezTo>
                <a:cubicBezTo>
                  <a:pt x="3072" y="5834"/>
                  <a:pt x="3905" y="5560"/>
                  <a:pt x="4596" y="5060"/>
                </a:cubicBezTo>
                <a:cubicBezTo>
                  <a:pt x="4691" y="5001"/>
                  <a:pt x="4691" y="4858"/>
                  <a:pt x="4620" y="4786"/>
                </a:cubicBezTo>
                <a:cubicBezTo>
                  <a:pt x="4587" y="4754"/>
                  <a:pt x="4544" y="4735"/>
                  <a:pt x="4499" y="4735"/>
                </a:cubicBezTo>
                <a:cubicBezTo>
                  <a:pt x="4463" y="4735"/>
                  <a:pt x="4426" y="4748"/>
                  <a:pt x="4394" y="4775"/>
                </a:cubicBezTo>
                <a:cubicBezTo>
                  <a:pt x="3763" y="5215"/>
                  <a:pt x="3013" y="5489"/>
                  <a:pt x="2191" y="5489"/>
                </a:cubicBezTo>
                <a:cubicBezTo>
                  <a:pt x="1727" y="5489"/>
                  <a:pt x="1262" y="5394"/>
                  <a:pt x="846" y="5239"/>
                </a:cubicBezTo>
                <a:cubicBezTo>
                  <a:pt x="1369" y="5144"/>
                  <a:pt x="1846" y="4917"/>
                  <a:pt x="2262" y="4584"/>
                </a:cubicBezTo>
                <a:cubicBezTo>
                  <a:pt x="2310" y="4536"/>
                  <a:pt x="2334" y="4477"/>
                  <a:pt x="2322" y="4417"/>
                </a:cubicBezTo>
                <a:cubicBezTo>
                  <a:pt x="2310" y="4346"/>
                  <a:pt x="2239" y="4286"/>
                  <a:pt x="2155" y="4286"/>
                </a:cubicBezTo>
                <a:cubicBezTo>
                  <a:pt x="1739" y="4263"/>
                  <a:pt x="1369" y="4048"/>
                  <a:pt x="1167" y="3691"/>
                </a:cubicBezTo>
                <a:cubicBezTo>
                  <a:pt x="1250" y="3691"/>
                  <a:pt x="1358" y="3667"/>
                  <a:pt x="1441" y="3643"/>
                </a:cubicBezTo>
                <a:cubicBezTo>
                  <a:pt x="1524" y="3632"/>
                  <a:pt x="1584" y="3572"/>
                  <a:pt x="1584" y="3489"/>
                </a:cubicBezTo>
                <a:cubicBezTo>
                  <a:pt x="1596" y="3405"/>
                  <a:pt x="1536" y="3334"/>
                  <a:pt x="1441" y="3298"/>
                </a:cubicBezTo>
                <a:cubicBezTo>
                  <a:pt x="1000" y="3191"/>
                  <a:pt x="667" y="2822"/>
                  <a:pt x="596" y="2381"/>
                </a:cubicBezTo>
                <a:lnTo>
                  <a:pt x="596" y="2381"/>
                </a:lnTo>
                <a:cubicBezTo>
                  <a:pt x="727" y="2405"/>
                  <a:pt x="869" y="2417"/>
                  <a:pt x="1000" y="2417"/>
                </a:cubicBezTo>
                <a:cubicBezTo>
                  <a:pt x="1084" y="2417"/>
                  <a:pt x="1143" y="2358"/>
                  <a:pt x="1167" y="2274"/>
                </a:cubicBezTo>
                <a:cubicBezTo>
                  <a:pt x="1179" y="2203"/>
                  <a:pt x="1131" y="2143"/>
                  <a:pt x="1072" y="2108"/>
                </a:cubicBezTo>
                <a:cubicBezTo>
                  <a:pt x="703" y="1881"/>
                  <a:pt x="476" y="1488"/>
                  <a:pt x="476" y="1048"/>
                </a:cubicBezTo>
                <a:cubicBezTo>
                  <a:pt x="476" y="953"/>
                  <a:pt x="488" y="846"/>
                  <a:pt x="524" y="738"/>
                </a:cubicBezTo>
                <a:cubicBezTo>
                  <a:pt x="965" y="1191"/>
                  <a:pt x="1524" y="1524"/>
                  <a:pt x="2120" y="1727"/>
                </a:cubicBezTo>
                <a:cubicBezTo>
                  <a:pt x="2120" y="1727"/>
                  <a:pt x="2715" y="1905"/>
                  <a:pt x="2929" y="1917"/>
                </a:cubicBezTo>
                <a:lnTo>
                  <a:pt x="3024" y="1917"/>
                </a:lnTo>
                <a:cubicBezTo>
                  <a:pt x="3096" y="1917"/>
                  <a:pt x="3167" y="1869"/>
                  <a:pt x="3191" y="1798"/>
                </a:cubicBezTo>
                <a:cubicBezTo>
                  <a:pt x="3203" y="1786"/>
                  <a:pt x="3203" y="1750"/>
                  <a:pt x="3203" y="1738"/>
                </a:cubicBezTo>
                <a:lnTo>
                  <a:pt x="3203" y="1703"/>
                </a:lnTo>
                <a:cubicBezTo>
                  <a:pt x="3203" y="953"/>
                  <a:pt x="3810" y="334"/>
                  <a:pt x="4572" y="334"/>
                </a:cubicBezTo>
                <a:cubicBezTo>
                  <a:pt x="4941" y="334"/>
                  <a:pt x="5287" y="488"/>
                  <a:pt x="5549" y="750"/>
                </a:cubicBezTo>
                <a:cubicBezTo>
                  <a:pt x="5585" y="787"/>
                  <a:pt x="5621" y="802"/>
                  <a:pt x="5663" y="802"/>
                </a:cubicBezTo>
                <a:cubicBezTo>
                  <a:pt x="5676" y="802"/>
                  <a:pt x="5689" y="801"/>
                  <a:pt x="5703" y="798"/>
                </a:cubicBezTo>
                <a:cubicBezTo>
                  <a:pt x="5882" y="762"/>
                  <a:pt x="6049" y="738"/>
                  <a:pt x="6203" y="679"/>
                </a:cubicBezTo>
                <a:lnTo>
                  <a:pt x="6203" y="679"/>
                </a:lnTo>
                <a:cubicBezTo>
                  <a:pt x="6120" y="762"/>
                  <a:pt x="6013" y="857"/>
                  <a:pt x="5894" y="917"/>
                </a:cubicBezTo>
                <a:cubicBezTo>
                  <a:pt x="5822" y="965"/>
                  <a:pt x="5787" y="1048"/>
                  <a:pt x="5822" y="1143"/>
                </a:cubicBezTo>
                <a:cubicBezTo>
                  <a:pt x="5846" y="1203"/>
                  <a:pt x="5930" y="1250"/>
                  <a:pt x="6001" y="1250"/>
                </a:cubicBezTo>
                <a:cubicBezTo>
                  <a:pt x="6144" y="1227"/>
                  <a:pt x="6287" y="1215"/>
                  <a:pt x="6418" y="1167"/>
                </a:cubicBezTo>
                <a:lnTo>
                  <a:pt x="6418" y="1167"/>
                </a:lnTo>
                <a:cubicBezTo>
                  <a:pt x="6299" y="1286"/>
                  <a:pt x="6168" y="1405"/>
                  <a:pt x="6013" y="1512"/>
                </a:cubicBezTo>
                <a:cubicBezTo>
                  <a:pt x="5965" y="1548"/>
                  <a:pt x="5941" y="1608"/>
                  <a:pt x="5941" y="1655"/>
                </a:cubicBezTo>
                <a:lnTo>
                  <a:pt x="5941" y="1679"/>
                </a:lnTo>
                <a:lnTo>
                  <a:pt x="5941" y="1703"/>
                </a:lnTo>
                <a:lnTo>
                  <a:pt x="5941" y="1727"/>
                </a:lnTo>
                <a:cubicBezTo>
                  <a:pt x="5941" y="2691"/>
                  <a:pt x="5572" y="3572"/>
                  <a:pt x="4977" y="4227"/>
                </a:cubicBezTo>
                <a:cubicBezTo>
                  <a:pt x="4918" y="4298"/>
                  <a:pt x="4918" y="4405"/>
                  <a:pt x="4977" y="4465"/>
                </a:cubicBezTo>
                <a:cubicBezTo>
                  <a:pt x="5011" y="4499"/>
                  <a:pt x="5053" y="4514"/>
                  <a:pt x="5096" y="4514"/>
                </a:cubicBezTo>
                <a:cubicBezTo>
                  <a:pt x="5143" y="4514"/>
                  <a:pt x="5190" y="4496"/>
                  <a:pt x="5227" y="4465"/>
                </a:cubicBezTo>
                <a:cubicBezTo>
                  <a:pt x="5894" y="3715"/>
                  <a:pt x="6263" y="2762"/>
                  <a:pt x="6287" y="1750"/>
                </a:cubicBezTo>
                <a:cubicBezTo>
                  <a:pt x="6596" y="1524"/>
                  <a:pt x="6846" y="1250"/>
                  <a:pt x="7061" y="917"/>
                </a:cubicBezTo>
                <a:cubicBezTo>
                  <a:pt x="7144" y="857"/>
                  <a:pt x="7132" y="750"/>
                  <a:pt x="7061" y="715"/>
                </a:cubicBezTo>
                <a:cubicBezTo>
                  <a:pt x="7029" y="683"/>
                  <a:pt x="6987" y="667"/>
                  <a:pt x="6937" y="667"/>
                </a:cubicBezTo>
                <a:cubicBezTo>
                  <a:pt x="6912" y="667"/>
                  <a:pt x="6886" y="671"/>
                  <a:pt x="6858" y="679"/>
                </a:cubicBezTo>
                <a:cubicBezTo>
                  <a:pt x="6775" y="726"/>
                  <a:pt x="6680" y="750"/>
                  <a:pt x="6596" y="786"/>
                </a:cubicBezTo>
                <a:cubicBezTo>
                  <a:pt x="6680" y="667"/>
                  <a:pt x="6763" y="512"/>
                  <a:pt x="6823" y="369"/>
                </a:cubicBezTo>
                <a:cubicBezTo>
                  <a:pt x="6834" y="310"/>
                  <a:pt x="6834" y="238"/>
                  <a:pt x="6787" y="191"/>
                </a:cubicBezTo>
                <a:cubicBezTo>
                  <a:pt x="6750" y="153"/>
                  <a:pt x="6703" y="135"/>
                  <a:pt x="6659" y="135"/>
                </a:cubicBezTo>
                <a:cubicBezTo>
                  <a:pt x="6632" y="135"/>
                  <a:pt x="6607" y="142"/>
                  <a:pt x="6584" y="155"/>
                </a:cubicBezTo>
                <a:cubicBezTo>
                  <a:pt x="6322" y="310"/>
                  <a:pt x="6061" y="393"/>
                  <a:pt x="5775" y="441"/>
                </a:cubicBezTo>
                <a:cubicBezTo>
                  <a:pt x="5465" y="143"/>
                  <a:pt x="5048" y="0"/>
                  <a:pt x="4620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Advancements in Medical Genetics by Slidesgo">
  <a:themeElements>
    <a:clrScheme name="Simple Light">
      <a:dk1>
        <a:srgbClr val="ffffff"/>
      </a:dk1>
      <a:lt1>
        <a:srgbClr val="eeeeee"/>
      </a:lt1>
      <a:dk2>
        <a:srgbClr val="787788"/>
      </a:dk2>
      <a:lt2>
        <a:srgbClr val="212835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dvancements in Medical Genetics by Slidesgo">
  <a:themeElements>
    <a:clrScheme name="Simple Light">
      <a:dk1>
        <a:srgbClr val="ffffff"/>
      </a:dk1>
      <a:lt1>
        <a:srgbClr val="eeeeee"/>
      </a:lt1>
      <a:dk2>
        <a:srgbClr val="787788"/>
      </a:dk2>
      <a:lt2>
        <a:srgbClr val="212835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LibreOffice/25.2.4.3$Linux_X86_64 LibreOffice_project/520$Build-3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2025-09-21T21:42:42Z</dcterms:created>
  <dc:creator>Unknown Creator</dc:creator>
  <dc:description/>
  <dc:language>en-US</dc:language>
  <cp:lastModifiedBy>Unknown Creator</cp:lastModifiedBy>
  <dcterms:modified xsi:type="dcterms:W3CDTF">2025-09-21T21:42:42Z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